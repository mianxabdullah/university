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3" r:id="rId3"/>
    <p:sldId id="262" r:id="rId5"/>
    <p:sldId id="273" r:id="rId6"/>
    <p:sldId id="274" r:id="rId7"/>
    <p:sldId id="275" r:id="rId8"/>
    <p:sldId id="276" r:id="rId9"/>
    <p:sldId id="278" r:id="rId10"/>
    <p:sldId id="277" r:id="rId11"/>
    <p:sldId id="280" r:id="rId12"/>
    <p:sldId id="281" r:id="rId13"/>
    <p:sldId id="285" r:id="rId14"/>
    <p:sldId id="283" r:id="rId15"/>
    <p:sldId id="286" r:id="rId16"/>
    <p:sldId id="282" r:id="rId17"/>
    <p:sldId id="287" r:id="rId18"/>
    <p:sldId id="288" r:id="rId19"/>
    <p:sldId id="284" r:id="rId20"/>
    <p:sldId id="291" r:id="rId21"/>
    <p:sldId id="28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091E"/>
    <a:srgbClr val="006898"/>
    <a:srgbClr val="0DC586"/>
    <a:srgbClr val="08A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208014407115903"/>
          <c:y val="0.257124114724201"/>
          <c:w val="0.573661255149019"/>
          <c:h val="0.666374397194213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</c:v>
                </c:pt>
              </c:strCache>
            </c:strRef>
          </c:tx>
          <c:spPr>
            <a:solidFill>
              <a:srgbClr val="FFC000"/>
            </a:solidFill>
            <a:scene3d>
              <a:camera prst="orthographicFront"/>
              <a:lightRig rig="threePt" dir="t"/>
            </a:scene3d>
            <a:sp3d contourW="9525"/>
          </c:spPr>
          <c:explosion val="0"/>
          <c:dPt>
            <c:idx val="0"/>
            <c:bubble3D val="0"/>
            <c:spPr>
              <a:solidFill>
                <a:schemeClr val="bg2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1"/>
            <c:bubble3D val="0"/>
            <c:spPr>
              <a:solidFill>
                <a:srgbClr val="C9091E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3"/>
            <c:bubble3D val="0"/>
            <c:spPr>
              <a:solidFill>
                <a:srgbClr val="FFC000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moderate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69.7</c:v>
                </c:pt>
                <c:pt idx="1">
                  <c:v>30.3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legendEntry>
        <c:idx val="3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ec70b57-af95-421a-b3ee-e1154220b75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309220346767712"/>
          <c:y val="0.274421462215851"/>
          <c:w val="0.356757377425652"/>
          <c:h val="0.63628916649600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CHATGPT</c:v>
                </c:pt>
                <c:pt idx="1">
                  <c:v>DEEPSEEK</c:v>
                </c:pt>
                <c:pt idx="2">
                  <c:v>BOTH</c:v>
                </c:pt>
                <c:pt idx="3">
                  <c:v>NEITHER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60.5</c:v>
                </c:pt>
                <c:pt idx="1">
                  <c:v>19.2</c:v>
                </c:pt>
                <c:pt idx="2">
                  <c:v>17.2</c:v>
                </c:pt>
                <c:pt idx="3">
                  <c:v>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b9e6190-b64b-4a74-b890-d41b554c32d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108757062146893"/>
          <c:y val="0.24140154772141"/>
          <c:w val="0.760169491525424"/>
          <c:h val="0.6268271711092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 contourW="9525"/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CHATGPT</c:v>
                </c:pt>
                <c:pt idx="1">
                  <c:v>DEEPSEEK</c:v>
                </c:pt>
                <c:pt idx="2">
                  <c:v>BOTH</c:v>
                </c:pt>
                <c:pt idx="3">
                  <c:v>NEITHER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40.5</c:v>
                </c:pt>
                <c:pt idx="1">
                  <c:v>30.3</c:v>
                </c:pt>
                <c:pt idx="2">
                  <c:v>24.6</c:v>
                </c:pt>
                <c:pt idx="3">
                  <c:v>4.4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1935a3d-bab4-40e2-810e-bc5ea9bbbe4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165635601676312"/>
          <c:y val="0.115082382762991"/>
          <c:w val="0.734783476352026"/>
          <c:h val="0.877313054499366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</c:v>
                </c:pt>
              </c:strCache>
            </c:strRef>
          </c:tx>
          <c:spPr>
            <a:solidFill>
              <a:srgbClr val="00B050"/>
            </a:solidFill>
            <a:scene3d>
              <a:camera prst="orthographicFront"/>
              <a:lightRig rig="threePt" dir="t"/>
            </a:scene3d>
            <a:sp3d contourW="9525"/>
          </c:spPr>
          <c:explosion val="0"/>
          <c:dPt>
            <c:idx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1"/>
            <c:bubble3D val="0"/>
            <c:spPr>
              <a:solidFill>
                <a:srgbClr val="FFC000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2"/>
            <c:bubble3D val="0"/>
            <c:spPr>
              <a:solidFill>
                <a:srgbClr val="00B050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3"/>
            <c:bubble3D val="0"/>
            <c:spPr>
              <a:solidFill>
                <a:srgbClr val="00B050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CHATGPT</c:v>
                </c:pt>
                <c:pt idx="1">
                  <c:v>DEEPSEEK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58.1</c:v>
                </c:pt>
                <c:pt idx="1">
                  <c:v>41.9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legendEntry>
        <c:idx val="3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6a5079e-1472-4a5c-9681-003779d7f7d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0635017866258295"/>
          <c:y val="0.194633211360864"/>
          <c:w val="0.893517100561511"/>
          <c:h val="0.71562990067956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 contourW="9525"/>
          </c:spPr>
          <c:explosion val="0"/>
          <c:dPt>
            <c:idx val="0"/>
            <c:bubble3D val="0"/>
            <c:spPr>
              <a:solidFill>
                <a:schemeClr val="bg2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CHATGPT</c:v>
                </c:pt>
                <c:pt idx="1">
                  <c:v>DEEPSEEK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legendEntry>
        <c:idx val="3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e7d96c4-53ea-44c2-a54b-988ddfba4cfe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9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9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9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9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11.xml"/><Relationship Id="rId3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4.png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30000"/>
          </a:blip>
          <a:srcRect t="586" r="671" b="-1"/>
          <a:stretch>
            <a:fillRect/>
          </a:stretch>
        </p:blipFill>
        <p:spPr>
          <a:xfrm>
            <a:off x="0" y="-14831"/>
            <a:ext cx="12192000" cy="687283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972310"/>
            <a:ext cx="7421880" cy="2218690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838200" y="949960"/>
            <a:ext cx="10515600" cy="1015365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838200" y="4194175"/>
            <a:ext cx="2743200" cy="526415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6000" contrast="12000"/>
          </a:blip>
          <a:srcRect t="2579"/>
          <a:stretch>
            <a:fillRect/>
          </a:stretch>
        </p:blipFill>
        <p:spPr>
          <a:xfrm>
            <a:off x="0" y="11430"/>
            <a:ext cx="12192635" cy="6846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21665" y="755650"/>
            <a:ext cx="3260090" cy="5563870"/>
          </a:xfrm>
        </p:spPr>
        <p:txBody>
          <a:bodyPr anchor="t">
            <a:normAutofit/>
          </a:bodyPr>
          <a:lstStyle>
            <a:lvl1pPr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rcRect t="1279" r="833"/>
          <a:stretch>
            <a:fillRect/>
          </a:stretch>
        </p:blipFill>
        <p:spPr>
          <a:xfrm>
            <a:off x="1" y="0"/>
            <a:ext cx="12191999" cy="684371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900170" y="2228215"/>
            <a:ext cx="7291070" cy="3861435"/>
          </a:xfrm>
        </p:spPr>
        <p:txBody>
          <a:bodyPr anchor="t" anchorCtr="0">
            <a:normAutofit/>
          </a:bodyPr>
          <a:lstStyle>
            <a:lvl1pPr algn="r">
              <a:defRPr sz="40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2045335" y="803275"/>
            <a:ext cx="9144000" cy="1405890"/>
          </a:xfrm>
        </p:spPr>
        <p:txBody>
          <a:bodyPr wrap="none" tIns="0" rIns="0" bIns="0" anchor="b" anchorCtr="0">
            <a:normAutofit/>
          </a:bodyPr>
          <a:lstStyle>
            <a:lvl1pPr marL="0" indent="0" algn="r">
              <a:buNone/>
              <a:defRPr sz="8800" b="1">
                <a:solidFill>
                  <a:schemeClr val="accent1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506" y="266702"/>
            <a:ext cx="10795086" cy="863607"/>
          </a:xfrm>
        </p:spPr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506" y="266702"/>
            <a:ext cx="10795086" cy="863607"/>
          </a:xfrm>
        </p:spPr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8810" cy="539750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216451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838165" y="3380249"/>
            <a:ext cx="10514400" cy="898647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5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lumOff val="10000"/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92000" cy="6876415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rgbClr val="FFFFFF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900" kern="1200">
          <a:solidFill>
            <a:srgbClr val="FFFFFF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image" Target="../media/image5.jpeg"/><Relationship Id="rId1" Type="http://schemas.openxmlformats.org/officeDocument/2006/relationships/tags" Target="../tags/tag6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69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70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7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2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3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4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77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8.xml"/><Relationship Id="rId1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79.xml"/><Relationship Id="rId2" Type="http://schemas.openxmlformats.org/officeDocument/2006/relationships/image" Target="../media/image14.jpeg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0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1.xml"/><Relationship Id="rId1" Type="http://schemas.openxmlformats.org/officeDocument/2006/relationships/chart" Target="../charts/char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972310"/>
            <a:ext cx="7421880" cy="2218690"/>
          </a:xfrm>
        </p:spPr>
        <p:txBody>
          <a:bodyPr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en-US" sz="3200" dirty="0">
                <a:latin typeface="Century Gothic" panose="020B0502020202020204" charset="0"/>
                <a:ea typeface="+mj-ea"/>
                <a:cs typeface="Century Gothic" panose="020B0502020202020204" charset="0"/>
                <a:sym typeface="+mn-ea"/>
              </a:rPr>
              <a:t>ChatGPT vs DeepSeek: A Comparative Study in Professional and Non-Professional </a:t>
            </a:r>
            <a:r>
              <a:rPr lang="en-US" altLang="en-US" sz="3200" dirty="0">
                <a:latin typeface="Century Gothic" panose="020B0502020202020204" charset="0"/>
                <a:ea typeface="+mj-ea"/>
                <a:cs typeface="Century Gothic" panose="020B0502020202020204" charset="0"/>
                <a:sym typeface="+mn-ea"/>
              </a:rPr>
              <a:t>Use</a:t>
            </a:r>
            <a:endParaRPr lang="en-US" altLang="en-US" sz="3200" dirty="0">
              <a:latin typeface="Century Gothic" panose="020B0502020202020204" charset="0"/>
              <a:ea typeface="+mj-ea"/>
              <a:cs typeface="Century Gothic" panose="020B0502020202020204" charset="0"/>
              <a:sym typeface="+mn-ea"/>
            </a:endParaRPr>
          </a:p>
        </p:txBody>
      </p:sp>
      <p:sp>
        <p:nvSpPr>
          <p:cNvPr id="7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38200" y="949960"/>
            <a:ext cx="10515600" cy="1015365"/>
          </a:xfrm>
        </p:spPr>
        <p:txBody>
          <a:bodyPr/>
          <a:p>
            <a:endParaRPr lang="en-US"/>
          </a:p>
          <a:p>
            <a:endParaRPr lang="en-US"/>
          </a:p>
        </p:txBody>
      </p:sp>
      <p:sp>
        <p:nvSpPr>
          <p:cNvPr id="8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838200" y="4194175"/>
            <a:ext cx="5535930" cy="526415"/>
          </a:xfrm>
        </p:spPr>
        <p:txBody>
          <a:bodyPr>
            <a:noAutofit/>
          </a:bodyPr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sz="1400">
                <a:latin typeface="Century Gothic" panose="020B0502020202020204" charset="0"/>
                <a:cs typeface="Century Gothic" panose="020B0502020202020204" charset="0"/>
              </a:rPr>
              <a:t>A comparative study in professional and non-professional use.</a:t>
            </a:r>
            <a:endParaRPr lang="en-US" sz="1400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44" r="9163"/>
          <a:stretch>
            <a:fillRect/>
          </a:stretch>
        </p:blipFill>
        <p:spPr>
          <a:xfrm flipH="1">
            <a:off x="1" y="0"/>
            <a:ext cx="7192645" cy="6858000"/>
          </a:xfrm>
          <a:custGeom>
            <a:avLst/>
            <a:gdLst>
              <a:gd name="connsiteX0" fmla="*/ 7192645 w 7192645"/>
              <a:gd name="connsiteY0" fmla="*/ 0 h 6858000"/>
              <a:gd name="connsiteX1" fmla="*/ 0 w 7192645"/>
              <a:gd name="connsiteY1" fmla="*/ 0 h 6858000"/>
              <a:gd name="connsiteX2" fmla="*/ 0 w 7192645"/>
              <a:gd name="connsiteY2" fmla="*/ 2714625 h 6858000"/>
              <a:gd name="connsiteX3" fmla="*/ 715645 w 7192645"/>
              <a:gd name="connsiteY3" fmla="*/ 3430270 h 6858000"/>
              <a:gd name="connsiteX4" fmla="*/ 0 w 7192645"/>
              <a:gd name="connsiteY4" fmla="*/ 4145915 h 6858000"/>
              <a:gd name="connsiteX5" fmla="*/ 0 w 7192645"/>
              <a:gd name="connsiteY5" fmla="*/ 6858000 h 6858000"/>
              <a:gd name="connsiteX6" fmla="*/ 7192645 w 719264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92645" h="6858000">
                <a:moveTo>
                  <a:pt x="7192645" y="0"/>
                </a:moveTo>
                <a:lnTo>
                  <a:pt x="0" y="0"/>
                </a:lnTo>
                <a:lnTo>
                  <a:pt x="0" y="2714625"/>
                </a:lnTo>
                <a:lnTo>
                  <a:pt x="715645" y="3430270"/>
                </a:lnTo>
                <a:lnTo>
                  <a:pt x="0" y="4145915"/>
                </a:lnTo>
                <a:lnTo>
                  <a:pt x="0" y="6858000"/>
                </a:lnTo>
                <a:lnTo>
                  <a:pt x="7192645" y="6858000"/>
                </a:lnTo>
                <a:close/>
              </a:path>
            </a:pathLst>
          </a:custGeom>
          <a:ln w="3175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8115617" y="1602712"/>
            <a:ext cx="3393440" cy="19275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  <a:t>ABDULLAH AYUB</a:t>
            </a:r>
            <a:endParaRPr lang="en-US" sz="2400">
              <a:latin typeface="Century Gothic" panose="020B0502020202020204" charset="0"/>
              <a:cs typeface="Century Gothic" panose="020B0502020202020204" charset="0"/>
              <a:sym typeface="+mn-ea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  <a:t>BSDSF24M029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>
                <a:cs typeface="Century Gothic" panose="020B0502020202020204" charset="0"/>
                <a:sym typeface="+mn-ea"/>
              </a:rPr>
              <a:t>			</a:t>
            </a:r>
            <a:endParaRPr lang="en-US" sz="2400">
              <a:solidFill>
                <a:schemeClr val="tx1"/>
              </a:solidFill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2400">
                <a:cs typeface="Century Gothic" panose="020B0502020202020204" charset="0"/>
                <a:sym typeface="+mn-ea"/>
              </a:rPr>
              <a:t>                   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cs typeface="Arial Black" panose="020B0A0402010202020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8114982" y="3729725"/>
            <a:ext cx="3393440" cy="19148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>
              <a:cs typeface="Century Gothic" panose="020B0502020202020204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  <a:t>SUFYAN AHMAD</a:t>
            </a:r>
            <a:endParaRPr lang="en-US" sz="2400">
              <a:latin typeface="Century Gothic" panose="020B0502020202020204" charset="0"/>
              <a:cs typeface="Century Gothic" panose="020B0502020202020204" charset="0"/>
              <a:sym typeface="+mn-ea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  <a:t>BSDSF24M018</a:t>
            </a:r>
            <a:endParaRPr lang="en-US" sz="2400" b="1" dirty="0">
              <a:solidFill>
                <a:srgbClr val="FFC000"/>
              </a:solidFill>
              <a:latin typeface="Century Gothic" panose="020B0502020202020204" charset="0"/>
              <a:cs typeface="Arial Black" panose="020B0A04020102020204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103595" y="251927"/>
            <a:ext cx="3391200" cy="124532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>
            <a:normAutofit lnSpcReduction="20000"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i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TEAM MEMBERS</a:t>
            </a:r>
            <a:endParaRPr lang="en-US" b="1" i="1" spc="0" dirty="0">
              <a:solidFill>
                <a:schemeClr val="accent3">
                  <a:lumMod val="75000"/>
                </a:schemeClr>
              </a:solidFill>
              <a:latin typeface="Century Gothic" panose="020B0502020202020204" charset="0"/>
              <a:cs typeface="Century Gothic" panose="020B0502020202020204" charset="0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1665" y="767715"/>
            <a:ext cx="10880725" cy="5551805"/>
          </a:xfrm>
        </p:spPr>
        <p:txBody>
          <a:bodyPr>
            <a:normAutofit/>
          </a:bodyPr>
          <a:p>
            <a:pPr marL="0" indent="0" algn="l"/>
            <a:r>
              <a:rPr lang="zh-CN" altLang="en-US" sz="4000">
                <a:solidFill>
                  <a:schemeClr val="accent3">
                    <a:lumMod val="75000"/>
                  </a:schemeClr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👥</a:t>
            </a:r>
            <a:r>
              <a:rPr lang="en-US" altLang="en-US" sz="4000">
                <a:solidFill>
                  <a:schemeClr val="accent3">
                    <a:lumMod val="75000"/>
                  </a:schemeClr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  Overview :</a:t>
            </a:r>
            <a:br>
              <a:rPr lang="en-US" altLang="en-US" sz="2000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br>
              <a:rPr lang="en-US" altLang="en-US" sz="2000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r>
              <a:rPr lang="en-US" alt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  <a:t>This research investigates user preferences between ChatGPT and DeepSeek across professional and non-professional contexts.</a:t>
            </a:r>
            <a:br>
              <a:rPr lang="en-US" altLang="en-US" sz="2000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b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3200" i="1">
                <a:solidFill>
                  <a:schemeClr val="accent3">
                    <a:lumMod val="75000"/>
                  </a:schemeClr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It highlights:</a:t>
            </a:r>
            <a:br>
              <a:rPr lang="en-US" altLang="en-US" sz="2000" i="1">
                <a:solidFill>
                  <a:schemeClr val="accent3">
                    <a:lumMod val="75000"/>
                  </a:schemeClr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br>
              <a:rPr lang="en-US" altLang="en-US" sz="2000" b="1" i="1">
                <a:solidFill>
                  <a:schemeClr val="accent3">
                    <a:lumMod val="75000"/>
                  </a:schemeClr>
                </a:solidFill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  <a:t>Usability differences</a:t>
            </a:r>
            <a:br>
              <a:rPr lang="en-US" alt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br>
              <a:rPr lang="en-US" altLang="en-US" sz="240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  <a:t>Perceived accuracy and speed</a:t>
            </a:r>
            <a:br>
              <a:rPr lang="en-US" alt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br>
              <a:rPr lang="en-US" altLang="en-US" sz="240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  <a:t>Use-cases in education and work</a:t>
            </a:r>
            <a:br>
              <a:rPr lang="en-US" alt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br>
              <a:rPr lang="en-US" altLang="en-US" sz="240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400">
                <a:latin typeface="Century Gothic" panose="020B0502020202020204" charset="0"/>
                <a:cs typeface="Century Gothic" panose="020B0502020202020204" charset="0"/>
                <a:sym typeface="+mn-ea"/>
              </a:rPr>
              <a:t>Trust in information and reliability</a:t>
            </a:r>
            <a:endParaRPr lang="en-US" altLang="en-US" sz="2400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8630" y="697230"/>
            <a:ext cx="11128375" cy="5692775"/>
          </a:xfrm>
        </p:spPr>
        <p:txBody>
          <a:bodyPr>
            <a:normAutofit/>
          </a:bodyPr>
          <a:p>
            <a:r>
              <a:rPr lang="zh-CN" altLang="en-US" sz="3555" i="1">
                <a:solidFill>
                  <a:schemeClr val="accent3">
                    <a:lumMod val="75000"/>
                  </a:schemeClr>
                </a:solidFill>
                <a:latin typeface="Century Gothic" panose="020B0502020202020204" charset="0"/>
                <a:cs typeface="Century Gothic" panose="020B0502020202020204" charset="0"/>
              </a:rPr>
              <a:t>📝</a:t>
            </a:r>
            <a:r>
              <a:rPr lang="en-US" altLang="en-US" sz="3555" i="1">
                <a:solidFill>
                  <a:schemeClr val="accent3">
                    <a:lumMod val="75000"/>
                  </a:schemeClr>
                </a:solidFill>
                <a:latin typeface="Century Gothic" panose="020B0502020202020204" charset="0"/>
                <a:cs typeface="Century Gothic" panose="020B0502020202020204" charset="0"/>
              </a:rPr>
              <a:t> Survey Details</a:t>
            </a:r>
            <a:r>
              <a:rPr lang="en-US" altLang="en-US" sz="3555">
                <a:solidFill>
                  <a:schemeClr val="accent3">
                    <a:lumMod val="75000"/>
                  </a:schemeClr>
                </a:solidFill>
                <a:latin typeface="Century Gothic" panose="020B0502020202020204" charset="0"/>
                <a:cs typeface="Century Gothic" panose="020B0502020202020204" charset="0"/>
              </a:rPr>
              <a:t> :</a:t>
            </a:r>
            <a:br>
              <a:rPr lang="en-US" altLang="en-US" sz="3555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3555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Total Respondents</a:t>
            </a:r>
            <a: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  <a:t>: </a:t>
            </a:r>
            <a:r>
              <a:rPr lang="en-US" altLang="en-US" sz="2665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160+</a:t>
            </a:r>
            <a:b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Method</a:t>
            </a:r>
            <a: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  <a:t>: Google Forms</a:t>
            </a:r>
            <a:b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Target Group</a:t>
            </a:r>
            <a: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  <a:t>: Students and working professionals</a:t>
            </a:r>
            <a:b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Focus</a:t>
            </a:r>
            <a: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  <a:t>: Tool comparison in terms of functionality, reliability, </a:t>
            </a:r>
            <a: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  <a:t>and </a:t>
            </a:r>
            <a: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  <a:t>use-context</a:t>
            </a:r>
            <a:endParaRPr lang="en-US" altLang="en-US" sz="2665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655" y="95885"/>
            <a:ext cx="11050270" cy="662940"/>
          </a:xfrm>
        </p:spPr>
        <p:txBody>
          <a:bodyPr/>
          <a:p>
            <a:pPr marL="742950" indent="-742950">
              <a:buFont typeface="Arial" panose="020B0604020202020204" pitchFamily="34" charset="0"/>
              <a:buAutoNum type="arabicPeriod"/>
            </a:pPr>
            <a:r>
              <a:rPr lang="en-US" sz="360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SURVEY STATS </a:t>
            </a:r>
            <a:endParaRPr lang="en-US" sz="3600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619760" y="1092200"/>
            <a:ext cx="5154295" cy="95504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20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a.</a:t>
            </a:r>
            <a:r>
              <a:rPr lang="en-US" sz="2000">
                <a:latin typeface="Century Gothic" panose="020B0502020202020204" charset="0"/>
                <a:cs typeface="Century Gothic" panose="020B0502020202020204" charset="0"/>
              </a:rPr>
              <a:t>  AGE DISTRIBUTION  ( </a:t>
            </a:r>
            <a:r>
              <a:rPr lang="en-US" sz="200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Sample 160</a:t>
            </a:r>
            <a:r>
              <a:rPr lang="en-US" sz="2000">
                <a:latin typeface="Century Gothic" panose="020B0502020202020204" charset="0"/>
                <a:cs typeface="Century Gothic" panose="020B0502020202020204" charset="0"/>
              </a:rPr>
              <a:t> )</a:t>
            </a:r>
            <a:endParaRPr 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sz="200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6359525" y="876935"/>
            <a:ext cx="5556885" cy="10731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20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b.</a:t>
            </a:r>
            <a:r>
              <a:rPr lang="en-US" sz="2000">
                <a:solidFill>
                  <a:schemeClr val="tx1"/>
                </a:solidFill>
                <a:latin typeface="Century Gothic" panose="020B0502020202020204" charset="0"/>
                <a:cs typeface="Century Gothic" panose="020B0502020202020204" charset="0"/>
              </a:rPr>
              <a:t> ROLE DISTRIBUTION</a:t>
            </a:r>
            <a:r>
              <a:rPr lang="en-US" sz="2000">
                <a:latin typeface="Century Gothic" panose="020B0502020202020204" charset="0"/>
                <a:cs typeface="Century Gothic" panose="020B0502020202020204" charset="0"/>
              </a:rPr>
              <a:t> </a:t>
            </a:r>
            <a:endParaRPr 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2000">
                <a:latin typeface="Century Gothic" panose="020B0502020202020204" charset="0"/>
                <a:cs typeface="Century Gothic" panose="020B0502020202020204" charset="0"/>
              </a:rPr>
              <a:t>    (</a:t>
            </a:r>
            <a:r>
              <a:rPr lang="en-US" sz="2000">
                <a:solidFill>
                  <a:srgbClr val="0DC586"/>
                </a:solidFill>
                <a:latin typeface="Century Gothic" panose="020B0502020202020204" charset="0"/>
                <a:cs typeface="Century Gothic" panose="020B0502020202020204" charset="0"/>
              </a:rPr>
              <a:t>PROFESSIONAL</a:t>
            </a:r>
            <a:r>
              <a:rPr lang="en-US" sz="2000">
                <a:latin typeface="Century Gothic" panose="020B0502020202020204" charset="0"/>
                <a:cs typeface="Century Gothic" panose="020B0502020202020204" charset="0"/>
              </a:rPr>
              <a:t>/</a:t>
            </a:r>
            <a:r>
              <a:rPr lang="en-US" sz="2000">
                <a:solidFill>
                  <a:srgbClr val="006898"/>
                </a:solidFill>
                <a:latin typeface="Century Gothic" panose="020B0502020202020204" charset="0"/>
                <a:cs typeface="Century Gothic" panose="020B0502020202020204" charset="0"/>
              </a:rPr>
              <a:t>NON-PROFESSIONAL</a:t>
            </a:r>
            <a:r>
              <a:rPr lang="en-US" sz="2000">
                <a:latin typeface="Century Gothic" panose="020B0502020202020204" charset="0"/>
                <a:cs typeface="Century Gothic" panose="020B0502020202020204" charset="0"/>
              </a:rPr>
              <a:t>)</a:t>
            </a:r>
            <a:endParaRPr lang="en-US" sz="200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12" name="Content Placeholder 11" descr="ONE"/>
          <p:cNvPicPr>
            <a:picLocks noChangeAspect="1"/>
          </p:cNvPicPr>
          <p:nvPr>
            <p:ph sz="half" idx="4294967295"/>
          </p:nvPr>
        </p:nvPicPr>
        <p:blipFill>
          <a:blip r:embed="rId1"/>
          <a:stretch>
            <a:fillRect/>
          </a:stretch>
        </p:blipFill>
        <p:spPr>
          <a:xfrm>
            <a:off x="403860" y="2047240"/>
            <a:ext cx="5586095" cy="4010660"/>
          </a:xfrm>
          <a:prstGeom prst="rect">
            <a:avLst/>
          </a:prstGeom>
        </p:spPr>
      </p:pic>
      <p:pic>
        <p:nvPicPr>
          <p:cNvPr id="16" name="Content Placeholder 15" descr="TWO2"/>
          <p:cNvPicPr>
            <a:picLocks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6359525" y="2047240"/>
            <a:ext cx="5460365" cy="39947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48285" y="209550"/>
            <a:ext cx="11236960" cy="546100"/>
          </a:xfrm>
        </p:spPr>
        <p:txBody>
          <a:bodyPr>
            <a:normAutofit fontScale="90000"/>
          </a:bodyPr>
          <a:p>
            <a:pPr marL="0" indent="0"/>
            <a:r>
              <a:rPr lang="en-US" altLang="en-US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2.  Which AI tool do you use more frequently?</a:t>
            </a:r>
            <a:endParaRPr lang="en-US" altLang="en-US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568325" y="1071245"/>
            <a:ext cx="5323840" cy="4876165"/>
          </a:xfrm>
        </p:spPr>
        <p:txBody>
          <a:bodyPr/>
          <a:p>
            <a:pPr marL="0" indent="0">
              <a:buNone/>
            </a:pPr>
            <a:r>
              <a:rPr lang="en-US" sz="2800">
                <a:latin typeface="Century Gothic" panose="020B0502020202020204" charset="0"/>
                <a:cs typeface="Century Gothic" panose="020B0502020202020204" charset="0"/>
              </a:rPr>
              <a:t>Out of</a:t>
            </a:r>
            <a:r>
              <a:rPr lang="en-US" sz="280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 160</a:t>
            </a:r>
            <a:r>
              <a:rPr lang="en-US" sz="2800">
                <a:latin typeface="Century Gothic" panose="020B0502020202020204" charset="0"/>
                <a:cs typeface="Century Gothic" panose="020B0502020202020204" charset="0"/>
              </a:rPr>
              <a:t> responses </a:t>
            </a:r>
            <a:endParaRPr lang="en-US" sz="28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sz="240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98</a:t>
            </a:r>
            <a:r>
              <a:rPr lang="en-US" sz="2400">
                <a:latin typeface="Century Gothic" panose="020B0502020202020204" charset="0"/>
                <a:cs typeface="Century Gothic" panose="020B0502020202020204" charset="0"/>
              </a:rPr>
              <a:t> were in favour of CHATGPT</a:t>
            </a:r>
            <a:endParaRPr lang="en-US" sz="24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sz="240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20</a:t>
            </a:r>
            <a:r>
              <a:rPr lang="en-US" sz="2400">
                <a:latin typeface="Century Gothic" panose="020B0502020202020204" charset="0"/>
                <a:cs typeface="Century Gothic" panose="020B0502020202020204" charset="0"/>
              </a:rPr>
              <a:t> were in favour of DEEPSEEK</a:t>
            </a:r>
            <a:endParaRPr lang="en-US" sz="24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sz="240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33</a:t>
            </a:r>
            <a:r>
              <a:rPr lang="en-US" sz="2400">
                <a:latin typeface="Century Gothic" panose="020B0502020202020204" charset="0"/>
                <a:cs typeface="Century Gothic" panose="020B0502020202020204" charset="0"/>
              </a:rPr>
              <a:t> were in favour of both AIs.</a:t>
            </a:r>
            <a:endParaRPr lang="en-US" sz="24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sz="2400">
                <a:latin typeface="Century Gothic" panose="020B0502020202020204" charset="0"/>
                <a:cs typeface="Century Gothic" panose="020B0502020202020204" charset="0"/>
              </a:rPr>
              <a:t>only </a:t>
            </a:r>
            <a:r>
              <a:rPr lang="en-US" sz="240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5</a:t>
            </a:r>
            <a:r>
              <a:rPr lang="en-US" sz="2400">
                <a:latin typeface="Century Gothic" panose="020B0502020202020204" charset="0"/>
                <a:cs typeface="Century Gothic" panose="020B0502020202020204" charset="0"/>
              </a:rPr>
              <a:t> said neither</a:t>
            </a:r>
            <a:endParaRPr lang="en-US" sz="24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2400">
                <a:latin typeface="Century Gothic" panose="020B0502020202020204" charset="0"/>
                <a:cs typeface="Century Gothic" panose="020B0502020202020204" charset="0"/>
              </a:rPr>
              <a:t>CONCLUSION : CHATGPT is most</a:t>
            </a:r>
            <a:endParaRPr lang="en-US" sz="24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2400">
                <a:latin typeface="Century Gothic" panose="020B0502020202020204" charset="0"/>
                <a:cs typeface="Century Gothic" panose="020B0502020202020204" charset="0"/>
              </a:rPr>
              <a:t>frequently used AI tool.</a:t>
            </a:r>
            <a:endParaRPr lang="en-US" sz="240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10" name="Content Placeholder 9" descr="abc2"/>
          <p:cNvPicPr>
            <a:picLocks noChangeAspect="1"/>
          </p:cNvPicPr>
          <p:nvPr>
            <p:ph sz="half" idx="4294967295"/>
          </p:nvPr>
        </p:nvPicPr>
        <p:blipFill>
          <a:blip r:embed="rId1"/>
          <a:stretch>
            <a:fillRect/>
          </a:stretch>
        </p:blipFill>
        <p:spPr>
          <a:xfrm>
            <a:off x="7407910" y="870585"/>
            <a:ext cx="3652520" cy="2903855"/>
          </a:xfrm>
          <a:prstGeom prst="rect">
            <a:avLst/>
          </a:prstGeom>
        </p:spPr>
      </p:pic>
      <p:pic>
        <p:nvPicPr>
          <p:cNvPr id="11" name="Picture 10" descr="FRE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425" y="4005580"/>
            <a:ext cx="4147820" cy="27476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" y="186690"/>
            <a:ext cx="11121390" cy="789305"/>
          </a:xfrm>
        </p:spPr>
        <p:txBody>
          <a:bodyPr>
            <a:normAutofit fontScale="90000"/>
          </a:bodyPr>
          <a:p>
            <a:r>
              <a:rPr lang="en-US" sz="400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3.  Purpose of use and Friendliness (perceived)</a:t>
            </a:r>
            <a:endParaRPr lang="en-US" sz="4000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654050" y="1219835"/>
            <a:ext cx="4222115" cy="41148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20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a. </a:t>
            </a:r>
            <a:r>
              <a:rPr lang="en-US" sz="2000" b="1">
                <a:latin typeface="Century Gothic" panose="020B0502020202020204" charset="0"/>
                <a:cs typeface="Century Gothic" panose="020B0502020202020204" charset="0"/>
              </a:rPr>
              <a:t> Majority uses AI for </a:t>
            </a:r>
            <a:r>
              <a:rPr lang="en-US" sz="2000" b="1" i="1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Education</a:t>
            </a:r>
            <a:endParaRPr lang="en-US" sz="2000" b="1" i="1">
              <a:solidFill>
                <a:srgbClr val="FF0000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7" name="Content Placeholder 6" descr="purpose"/>
          <p:cNvPicPr>
            <a:picLocks noChangeAspect="1"/>
          </p:cNvPicPr>
          <p:nvPr>
            <p:ph sz="half" idx="4294967295"/>
          </p:nvPr>
        </p:nvPicPr>
        <p:blipFill>
          <a:blip r:embed="rId1"/>
          <a:stretch>
            <a:fillRect/>
          </a:stretch>
        </p:blipFill>
        <p:spPr>
          <a:xfrm>
            <a:off x="511810" y="1875155"/>
            <a:ext cx="4300220" cy="430022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6503035" y="1219835"/>
            <a:ext cx="5323840" cy="41148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18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b.</a:t>
            </a:r>
            <a:r>
              <a:rPr lang="en-US" sz="1800" b="1">
                <a:latin typeface="Century Gothic" panose="020B0502020202020204" charset="0"/>
                <a:cs typeface="Century Gothic" panose="020B0502020202020204" charset="0"/>
              </a:rPr>
              <a:t>  CHATGPT is found to be more user friendly</a:t>
            </a:r>
            <a:endParaRPr lang="en-US" sz="1800" b="1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10" name="Content Placeholder 9" descr="FR"/>
          <p:cNvPicPr>
            <a:picLocks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6503035" y="1875155"/>
            <a:ext cx="5171440" cy="41008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 rot="10800000" flipV="1">
            <a:off x="191135" y="63500"/>
            <a:ext cx="11659870" cy="748030"/>
          </a:xfrm>
        </p:spPr>
        <p:txBody>
          <a:bodyPr>
            <a:normAutofit fontScale="90000"/>
          </a:bodyPr>
          <a:p>
            <a:r>
              <a:rPr lang="en-US" altLang="en-US" sz="400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I.  </a:t>
            </a:r>
            <a:r>
              <a:rPr lang="en-US" altLang="en-US" sz="400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Hypothesis Testing:</a:t>
            </a:r>
            <a:r>
              <a:rPr lang="en-US" altLang="en-US" sz="400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 AI Tools Rated "Very High" in Educational Significance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309880" y="1301750"/>
            <a:ext cx="11882120" cy="555625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240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Claim:</a:t>
            </a: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 AI Tools are </a:t>
            </a:r>
            <a:r>
              <a:rPr lang="en-US" altLang="en-US" sz="1800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rated "Very High"</a:t>
            </a: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 in Educational Significance by a majority of users.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H0: p=0.5   (50% of users rate educational significance as "Very High")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H1: p&gt;0.5    (A majority of users rate educational significance as "Very High")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Confidence Level: 95%          Significance Level (α): 0.05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Number of users who rated educational significance as "Very High": 106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Total sample size (n): 152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Sample Proportion (p):152/106≈0.697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Calculated Z-statistic (Zcal):≈4.74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  <a:sym typeface="+mn-ea"/>
              </a:rPr>
              <a:t>Tabulated Z-statistic (Ztab):1.645 (for a one-tailed test at α=0.05)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2800" b="1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Conclusion:</a:t>
            </a:r>
            <a:endParaRPr lang="en-US" altLang="en-US" sz="2800" b="1">
              <a:solidFill>
                <a:srgbClr val="FF0000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Century Gothic" panose="020B0502020202020204" charset="0"/>
                <a:cs typeface="Century Gothic" panose="020B0502020202020204" charset="0"/>
                <a:sym typeface="+mn-ea"/>
              </a:rPr>
              <a:t>Since Zcal(4.74) &gt; Ztab(1.645), we reject the null hypothesis (H0).</a:t>
            </a:r>
            <a:endParaRPr lang="en-US" altLang="en-US" sz="1600" b="1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Century Gothic" panose="020B0502020202020204" charset="0"/>
                <a:cs typeface="Century Gothic" panose="020B0502020202020204" charset="0"/>
                <a:sym typeface="+mn-ea"/>
              </a:rPr>
              <a:t>There is strong statistical evidence at the 95% confidence level that a majority of users rate AI tools as very significant in education.</a:t>
            </a:r>
            <a:endParaRPr lang="en-US" altLang="en-US" sz="1600" b="1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endParaRPr lang="en-US" altLang="en-US" sz="1600" b="1">
              <a:latin typeface="Century Gothic" panose="020B0502020202020204" charset="0"/>
              <a:cs typeface="Century Gothic" panose="020B0502020202020204" charset="0"/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8013700" y="2199640"/>
          <a:ext cx="3984625" cy="3004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92710" y="0"/>
            <a:ext cx="12010390" cy="902970"/>
          </a:xfrm>
        </p:spPr>
        <p:txBody>
          <a:bodyPr>
            <a:normAutofit fontScale="90000"/>
          </a:bodyPr>
          <a:p>
            <a:r>
              <a:rPr lang="en-US" altLang="en-US" sz="400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II.  </a:t>
            </a:r>
            <a:r>
              <a:rPr lang="en-US" altLang="en-US" sz="400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Hypothesis Testing:</a:t>
            </a:r>
            <a:r>
              <a:rPr lang="en-US" altLang="en-US" sz="400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 ChatGPT Responds Faster than DeepSeek</a:t>
            </a:r>
            <a:endParaRPr lang="en-US" altLang="en-US" sz="4000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92710" y="1167130"/>
            <a:ext cx="12099290" cy="5691505"/>
          </a:xfrm>
        </p:spPr>
        <p:txBody>
          <a:bodyPr/>
          <a:p>
            <a:pPr marL="0" indent="0">
              <a:buNone/>
            </a:pPr>
            <a:r>
              <a:rPr lang="en-US" altLang="en-US" sz="2000" b="1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Claim</a:t>
            </a: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: ChatGPT responds </a:t>
            </a:r>
            <a:r>
              <a:rPr lang="en-US" altLang="en-US" sz="2000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faster</a:t>
            </a: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 than DeepSeek.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H0: p=0.5 (ChatGPT and DeepSeek are equally fast)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H1: p&gt;0.5 (ChatGPT responds faster than DeepSeek)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Confidence Level: 95%    Significance Level (α): 0.05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Number of users who voted ChatGPT faster: 86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Total sample size (n): 152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Sample Proportion (p):152/86≈0.565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Calculated Z-statistic (Zcal):≈1.27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Century Gothic" panose="020B0502020202020204" charset="0"/>
                <a:cs typeface="Century Gothic" panose="020B0502020202020204" charset="0"/>
              </a:rPr>
              <a:t>Tabulated Z-statistic (Ztab):1.645 (for a one-tailed test at α=0.05)</a:t>
            </a:r>
            <a:endParaRPr lang="en-US" altLang="en-US" sz="160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2400" b="1">
                <a:solidFill>
                  <a:srgbClr val="FF0000"/>
                </a:solidFill>
                <a:highlight>
                  <a:srgbClr val="000000"/>
                </a:highlight>
                <a:latin typeface="Century Gothic" panose="020B0502020202020204" charset="0"/>
                <a:cs typeface="Century Gothic" panose="020B0502020202020204" charset="0"/>
              </a:rPr>
              <a:t>Conclusion</a:t>
            </a:r>
            <a:r>
              <a:rPr lang="en-US" altLang="en-US" sz="1600" b="1">
                <a:latin typeface="Century Gothic" panose="020B0502020202020204" charset="0"/>
                <a:cs typeface="Century Gothic" panose="020B0502020202020204" charset="0"/>
              </a:rPr>
              <a:t>:</a:t>
            </a:r>
            <a:endParaRPr lang="en-US" altLang="en-US" sz="1600" b="1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Century Gothic" panose="020B0502020202020204" charset="0"/>
                <a:cs typeface="Century Gothic" panose="020B0502020202020204" charset="0"/>
              </a:rPr>
              <a:t>Since Zcal(1.27) &lt; Ztab(1.645), we fail to reject the null hypothesis (H0).</a:t>
            </a:r>
            <a:endParaRPr lang="en-US" altLang="en-US" sz="1600" b="1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Century Gothic" panose="020B0502020202020204" charset="0"/>
                <a:cs typeface="Century Gothic" panose="020B0502020202020204" charset="0"/>
              </a:rPr>
              <a:t>There is not enough statistical evidence at the 95% confidence level to claim that ChatGPT responds faster than DeepSeek.</a:t>
            </a:r>
            <a:endParaRPr lang="en-US" altLang="en-US" sz="1600" b="1">
              <a:latin typeface="Century Gothic" panose="020B0502020202020204" charset="0"/>
              <a:cs typeface="Century Gothic" panose="020B0502020202020204" charset="0"/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6367145" y="813435"/>
          <a:ext cx="547624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8910" y="909320"/>
            <a:ext cx="11045190" cy="5765800"/>
          </a:xfrm>
        </p:spPr>
        <p:txBody>
          <a:bodyPr>
            <a:normAutofit fontScale="90000"/>
          </a:bodyPr>
          <a:p>
            <a:pPr algn="l"/>
            <a:r>
              <a:rPr lang="en-US" altLang="en-US" sz="2665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Claim</a:t>
            </a: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: DeepSeek is rated more </a:t>
            </a:r>
            <a:r>
              <a:rPr lang="en-US" altLang="en-US" sz="2220" b="0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accurate</a:t>
            </a: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 than ChatGPT.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H0: p=0.5 (Equal accuracy ratings for DeepSeek and ChatGPT)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H1: p&gt;0.5 (DeepSeek rated more accurate than ChatGPT)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Confidence Level: 95%   Significance Level (α): 0.05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Number of users who rated DeepSeek more accurate: 55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Total sample size (n): 152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Sample Proportion (p): 152/55≈0.362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Calculated Z-statistic (Zcal):≈-2.79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  <a:t>Tabulated Z-statistic (Ztab): 1.645 (for a one-tailed test at α=0.05)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Conclusion</a:t>
            </a:r>
            <a: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  <a:t>:</a:t>
            </a:r>
            <a:br>
              <a:rPr lang="en-US" altLang="en-US" sz="200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Since Zcal(-2.79) &lt; Ztab(1.645), we fail to reject the null hypothesis (H0).</a:t>
            </a:r>
            <a:b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There is no significant statistical evidence at the 95% confidence level to claim that DeepSeek is rated more accurate than ChatGPT. In fact, based on the sample proportion, ChatGPT appears to be rated more accurate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262255" y="116840"/>
            <a:ext cx="11667490" cy="712470"/>
          </a:xfrm>
        </p:spPr>
        <p:txBody>
          <a:bodyPr>
            <a:normAutofit fontScale="90000"/>
          </a:bodyPr>
          <a:p>
            <a:pPr marL="0" indent="0" algn="l">
              <a:buNone/>
            </a:pPr>
            <a:r>
              <a:rPr lang="en-US" altLang="en-US" sz="3110" b="1" i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III</a:t>
            </a:r>
            <a:r>
              <a:rPr lang="en-US" altLang="en-US" sz="2800" b="1" i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.  </a:t>
            </a:r>
            <a:r>
              <a:rPr lang="en-US" altLang="en-US" sz="2800" b="1" i="1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Hypothesis Testing :</a:t>
            </a:r>
            <a:r>
              <a:rPr lang="en-US" altLang="en-US" sz="2800" b="1" i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 DeepSeek Rated More Accurate than ChatGPT</a:t>
            </a:r>
            <a:endParaRPr lang="en-US" altLang="en-US" sz="2800" b="1" i="1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7603490" y="1092835"/>
          <a:ext cx="4495800" cy="2954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4465" y="1972310"/>
            <a:ext cx="11944350" cy="4758690"/>
          </a:xfrm>
        </p:spPr>
        <p:txBody>
          <a:bodyPr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5100" y="0"/>
            <a:ext cx="11812905" cy="774700"/>
          </a:xfrm>
        </p:spPr>
        <p:txBody>
          <a:bodyPr/>
          <a:p>
            <a:r>
              <a:rPr lang="en-US" sz="3600" b="1">
                <a:latin typeface="Century Gothic" panose="020B0502020202020204" charset="0"/>
                <a:cs typeface="Century Gothic" panose="020B0502020202020204" charset="0"/>
              </a:rPr>
              <a:t>4.  PERFORMANCE:</a:t>
            </a:r>
            <a:endParaRPr lang="en-US" sz="3600" b="1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163830" y="1096645"/>
            <a:ext cx="5874385" cy="982345"/>
          </a:xfrm>
        </p:spPr>
        <p:txBody>
          <a:bodyPr/>
          <a:p>
            <a:r>
              <a:rPr lang="en-US" altLang="en-US" sz="2000" b="1">
                <a:solidFill>
                  <a:schemeClr val="tx1"/>
                </a:solidFill>
                <a:latin typeface="Century Gothic" panose="020B0502020202020204" charset="0"/>
                <a:cs typeface="Century Gothic" panose="020B0502020202020204" charset="0"/>
              </a:rPr>
              <a:t>Have you ever received</a:t>
            </a:r>
            <a:r>
              <a:rPr lang="en-US" altLang="en-US" sz="2000" b="1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 incorrect or misleading </a:t>
            </a:r>
            <a:r>
              <a:rPr lang="en-US" altLang="en-US" sz="2000" b="1">
                <a:solidFill>
                  <a:schemeClr val="tx1"/>
                </a:solidFill>
                <a:latin typeface="Century Gothic" panose="020B0502020202020204" charset="0"/>
                <a:cs typeface="Century Gothic" panose="020B0502020202020204" charset="0"/>
              </a:rPr>
              <a:t>information from ChatGPT or DeepSeek?</a:t>
            </a:r>
            <a:endParaRPr lang="en-US" altLang="en-US" sz="2000" b="1">
              <a:solidFill>
                <a:srgbClr val="FFFF00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altLang="en-US" sz="2000" b="1">
              <a:solidFill>
                <a:srgbClr val="FFFF00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149340" y="1043940"/>
            <a:ext cx="5959475" cy="928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solidFill>
                  <a:schemeClr val="tx1"/>
                </a:solidFill>
                <a:latin typeface="Century Gothic" panose="020B0502020202020204" charset="0"/>
                <a:cs typeface="Century Gothic" panose="020B0502020202020204" charset="0"/>
              </a:rPr>
              <a:t>Which tool do you think</a:t>
            </a:r>
            <a:r>
              <a:rPr lang="en-US" altLang="en-US" sz="2000" b="1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 handles complex </a:t>
            </a:r>
            <a:r>
              <a:rPr lang="en-US" altLang="en-US" sz="2000" b="1">
                <a:solidFill>
                  <a:schemeClr val="tx1"/>
                </a:solidFill>
                <a:latin typeface="Century Gothic" panose="020B0502020202020204" charset="0"/>
                <a:cs typeface="Century Gothic" panose="020B0502020202020204" charset="0"/>
              </a:rPr>
              <a:t>or</a:t>
            </a:r>
            <a:r>
              <a:rPr lang="en-US" altLang="en-US" sz="2000" b="1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 </a:t>
            </a:r>
            <a:r>
              <a:rPr lang="en-US" altLang="en-US" sz="2000" b="1">
                <a:solidFill>
                  <a:schemeClr val="tx1"/>
                </a:solidFill>
                <a:latin typeface="Century Gothic" panose="020B0502020202020204" charset="0"/>
                <a:cs typeface="Century Gothic" panose="020B0502020202020204" charset="0"/>
              </a:rPr>
              <a:t>technical queries better?</a:t>
            </a:r>
            <a:endParaRPr lang="en-US" altLang="en-US" sz="2000" b="1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9" name="Picture 8" descr="tool_usage_distrib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9340" y="1818640"/>
            <a:ext cx="5847715" cy="4761865"/>
          </a:xfrm>
          <a:prstGeom prst="rect">
            <a:avLst/>
          </a:prstGeom>
        </p:spPr>
      </p:pic>
      <p:pic>
        <p:nvPicPr>
          <p:cNvPr id="10" name="Picture 9" descr="p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1972310"/>
            <a:ext cx="5592445" cy="45231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" y="1005840"/>
            <a:ext cx="11755755" cy="5630545"/>
          </a:xfrm>
        </p:spPr>
        <p:txBody>
          <a:bodyPr>
            <a:norm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This hypothes</a:t>
            </a:r>
            <a: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  <a:t>is examines whether the proportion of users who received </a:t>
            </a:r>
            <a:r>
              <a:rPr lang="en-US" altLang="en-US" sz="2220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incorrect/misleading</a:t>
            </a:r>
            <a: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  <a:t> information from AI tools is greater than 50%.</a:t>
            </a:r>
            <a:b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CLAIM:</a:t>
            </a:r>
            <a:b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  <a:t>Null Hypothesis (H0):p=0.5</a:t>
            </a:r>
            <a:b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  <a:t>Alternative Hypothesis (H1):p&gt;0.5</a:t>
            </a:r>
            <a:b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  <a:t>Total responses (n): 159</a:t>
            </a:r>
            <a:b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  <a:t>Number who reported incorrect/misleading information (x): 121</a:t>
            </a:r>
            <a:b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  <a:t>Sample Proportion (p): 0.761</a:t>
            </a:r>
            <a:b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  <a:t>Hypothesized population proportion under null hypothesis (p0): 0.5</a:t>
            </a:r>
            <a:b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  <a:t>Calculated Z-statistic (Zcal): 6.58</a:t>
            </a:r>
            <a:b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 b="0">
                <a:latin typeface="Century Gothic" panose="020B0502020202020204" charset="0"/>
                <a:cs typeface="Century Gothic" panose="020B0502020202020204" charset="0"/>
              </a:rPr>
              <a:t>Tabulated Z-statistic (Ztab): 1.645 (for a one-tailed test at α=0.05)</a:t>
            </a:r>
            <a:b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Conclusion</a:t>
            </a:r>
            <a: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  <a:t>:</a:t>
            </a:r>
            <a:b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  <a:t>Since Zcal(6.58)&gt;Ztab(1.645), we reject the null hypothesis (H0).</a:t>
            </a:r>
            <a:b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220">
                <a:latin typeface="Century Gothic" panose="020B0502020202020204" charset="0"/>
                <a:cs typeface="Century Gothic" panose="020B0502020202020204" charset="0"/>
              </a:rPr>
              <a:t>At a 5% level of significance, there is strong statistical evidence to conclude that the proportion of users who received incorrect or misleading information from ChatGPT or DeepSeek is significantly greater than 50%</a:t>
            </a:r>
            <a:endParaRPr lang="en-US" altLang="en-US" sz="222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3040" y="175895"/>
            <a:ext cx="11612245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IV. </a:t>
            </a:r>
            <a:r>
              <a:rPr lang="en-US" altLang="en-US" sz="2400" b="1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 HYPOTHESIS TESTING:</a:t>
            </a:r>
            <a:r>
              <a:rPr lang="en-US" altLang="en-US" sz="24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 Proportion of Incorrect/Misleading Information Received</a:t>
            </a:r>
            <a:endParaRPr lang="en-US" altLang="en-US" sz="2400" b="1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9390" y="236220"/>
            <a:ext cx="11782425" cy="608330"/>
          </a:xfrm>
        </p:spPr>
        <p:txBody>
          <a:bodyPr>
            <a:normAutofit fontScale="90000"/>
          </a:bodyPr>
          <a:p>
            <a:r>
              <a:rPr lang="en-US" altLang="en-US"/>
              <a:t> </a:t>
            </a:r>
            <a:r>
              <a:rPr lang="en-US" altLang="en-US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6.</a:t>
            </a:r>
            <a:r>
              <a:rPr lang="en-US" altLang="en-US"/>
              <a:t>  </a:t>
            </a:r>
            <a:r>
              <a:rPr lang="en-US" altLang="en-US" sz="3555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If you had to choose one tool for </a:t>
            </a:r>
            <a:r>
              <a:rPr lang="en-US" altLang="en-US" sz="3555" i="1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professional use</a:t>
            </a:r>
            <a:r>
              <a:rPr lang="en-US" altLang="en-US" sz="3555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, which would it be ?</a:t>
            </a:r>
            <a:endParaRPr lang="en-US" altLang="en-US" sz="3555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5" name="Picture 4" descr="profpi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1298575"/>
            <a:ext cx="5763895" cy="4876800"/>
          </a:xfrm>
          <a:prstGeom prst="rect">
            <a:avLst/>
          </a:prstGeom>
        </p:spPr>
      </p:pic>
      <p:pic>
        <p:nvPicPr>
          <p:cNvPr id="6" name="Picture 5" descr="prof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35" y="1221740"/>
            <a:ext cx="5825490" cy="476059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-635" y="5981700"/>
            <a:ext cx="12192000" cy="796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b="1">
                <a:solidFill>
                  <a:srgbClr val="FF0000"/>
                </a:solidFill>
                <a:highlight>
                  <a:srgbClr val="000000"/>
                </a:highlight>
                <a:latin typeface="Century Gothic" panose="020B0502020202020204" charset="0"/>
                <a:cs typeface="Century Gothic" panose="020B0502020202020204" charset="0"/>
              </a:rPr>
              <a:t>CONCLUSION:</a:t>
            </a:r>
            <a:endParaRPr lang="en-US" sz="2400" b="1">
              <a:solidFill>
                <a:srgbClr val="FF0000"/>
              </a:solidFill>
              <a:highlight>
                <a:srgbClr val="000000"/>
              </a:highlight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sz="2000" b="1">
                <a:solidFill>
                  <a:srgbClr val="FFFF00"/>
                </a:solidFill>
                <a:highlight>
                  <a:srgbClr val="000000"/>
                </a:highlight>
                <a:latin typeface="Century Gothic" panose="020B0502020202020204" charset="0"/>
                <a:cs typeface="Century Gothic" panose="020B0502020202020204" charset="0"/>
              </a:rPr>
              <a:t>Majority of people preferred CHATGPT over DEEPSEEK for Professional purposes.</a:t>
            </a:r>
            <a:endParaRPr lang="en-US" sz="2000" b="1">
              <a:solidFill>
                <a:srgbClr val="FFFF00"/>
              </a:solidFill>
              <a:highlight>
                <a:srgbClr val="000000"/>
              </a:highlight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965" y="197485"/>
            <a:ext cx="11687175" cy="667385"/>
          </a:xfrm>
        </p:spPr>
        <p:txBody>
          <a:bodyPr>
            <a:normAutofit fontScale="90000"/>
          </a:bodyPr>
          <a:p>
            <a:r>
              <a:rPr lang="en-US" altLang="en-US" sz="311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V.  </a:t>
            </a:r>
            <a:r>
              <a:rPr lang="en-US" altLang="en-US" sz="311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Hypothesis Testing:</a:t>
            </a:r>
            <a:r>
              <a:rPr lang="en-US" altLang="en-US" sz="311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 Preference for ChatGPT for Professional Use</a:t>
            </a:r>
            <a:endParaRPr lang="en-US" altLang="en-US" sz="3110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89560" y="848995"/>
            <a:ext cx="11554460" cy="5832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Claim</a:t>
            </a:r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: More than 50% of users prefer ChatGPT for </a:t>
            </a:r>
            <a:r>
              <a:rPr lang="en-US" altLang="en-US" sz="2400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professional use</a:t>
            </a:r>
            <a:r>
              <a:rPr lang="en-US" altLang="en-US" sz="2400">
                <a:latin typeface="Century Gothic" panose="020B0502020202020204" charset="0"/>
                <a:cs typeface="Century Gothic" panose="020B0502020202020204" charset="0"/>
              </a:rPr>
              <a:t>.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H0: p=0.5 (50% prefer ChatGPT for professional use)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H1: p&gt;0.5 (More than 50% prefer ChatGPT for professional use)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Confidence Level: 95%    Significance Level (α): 0.05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Number of users who preferred ChatGPT for professional use: 100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Total sample size (n): 152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Sample Proportion (p^):152/100≈0.658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Calculated Z-statistic (Zcal):≈3.26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>
                <a:latin typeface="Century Gothic" panose="020B0502020202020204" charset="0"/>
                <a:cs typeface="Century Gothic" panose="020B0502020202020204" charset="0"/>
              </a:rPr>
              <a:t>Tabulated Z-statistic (Ztable): 1.645 (critical value at 95% confidence for a one-tailed test)</a:t>
            </a:r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altLang="en-US" sz="200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400" b="1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Conclusion</a:t>
            </a:r>
            <a:r>
              <a:rPr lang="en-US" altLang="en-US" sz="2400" b="1">
                <a:latin typeface="Century Gothic" panose="020B0502020202020204" charset="0"/>
                <a:cs typeface="Century Gothic" panose="020B0502020202020204" charset="0"/>
              </a:rPr>
              <a:t>:</a:t>
            </a:r>
            <a:endParaRPr lang="en-US" altLang="en-US" sz="2400" b="1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 b="1">
                <a:latin typeface="Century Gothic" panose="020B0502020202020204" charset="0"/>
                <a:cs typeface="Century Gothic" panose="020B0502020202020204" charset="0"/>
              </a:rPr>
              <a:t>Since Zcal(3.26) &gt; Ztable(1.645), we reject the null hypothesis (H0).</a:t>
            </a:r>
            <a:endParaRPr lang="en-US" altLang="en-US" sz="2000" b="1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000" b="1">
                <a:latin typeface="Century Gothic" panose="020B0502020202020204" charset="0"/>
                <a:cs typeface="Century Gothic" panose="020B0502020202020204" charset="0"/>
              </a:rPr>
              <a:t>There is significant statistical evidence at the 95% confidence level that more than 50% of users prefer ChatGPT for professional use.</a:t>
            </a:r>
            <a:endParaRPr lang="en-US" sz="2000" b="1">
              <a:latin typeface="Century Gothic" panose="020B0502020202020204" charset="0"/>
              <a:cs typeface="Century Gothic" panose="020B0502020202020204" charset="0"/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8956675" y="642620"/>
          <a:ext cx="3181985" cy="2505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" y="73025"/>
            <a:ext cx="11928475" cy="715010"/>
          </a:xfrm>
        </p:spPr>
        <p:txBody>
          <a:bodyPr>
            <a:normAutofit fontScale="90000"/>
          </a:bodyPr>
          <a:p>
            <a:r>
              <a:rPr lang="en-US" altLang="en-US" sz="311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7.  If you had to choose one tool for</a:t>
            </a:r>
            <a:r>
              <a:rPr lang="en-US" altLang="en-US" sz="3110">
                <a:latin typeface="Century Gothic" panose="020B0502020202020204" charset="0"/>
                <a:cs typeface="Century Gothic" panose="020B0502020202020204" charset="0"/>
              </a:rPr>
              <a:t> </a:t>
            </a:r>
            <a:r>
              <a:rPr lang="en-US" altLang="en-US" sz="3110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non</a:t>
            </a:r>
            <a:r>
              <a:rPr lang="en-US" altLang="en-US" sz="3110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-professional use</a:t>
            </a:r>
            <a:r>
              <a:rPr lang="en-US" altLang="en-US" sz="311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, which would it be?</a:t>
            </a:r>
            <a:endParaRPr lang="en-US" altLang="en-US" sz="3110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5" name="Picture 4" descr="prof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1865"/>
            <a:ext cx="5737225" cy="5020945"/>
          </a:xfrm>
          <a:prstGeom prst="rect">
            <a:avLst/>
          </a:prstGeom>
        </p:spPr>
      </p:pic>
      <p:pic>
        <p:nvPicPr>
          <p:cNvPr id="6" name="Picture 5" descr="profp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150" y="1014730"/>
            <a:ext cx="5633720" cy="47904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35" y="5972810"/>
            <a:ext cx="12191365" cy="911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b="1">
                <a:solidFill>
                  <a:srgbClr val="FF0000"/>
                </a:solidFill>
                <a:highlight>
                  <a:srgbClr val="000000"/>
                </a:highlight>
                <a:latin typeface="Century Gothic" panose="020B0502020202020204" charset="0"/>
                <a:cs typeface="Century Gothic" panose="020B0502020202020204" charset="0"/>
                <a:sym typeface="+mn-ea"/>
              </a:rPr>
              <a:t>CONCLUSION:</a:t>
            </a:r>
            <a:endParaRPr lang="en-US" sz="2400" b="1">
              <a:solidFill>
                <a:srgbClr val="FF0000"/>
              </a:solidFill>
              <a:highlight>
                <a:srgbClr val="000000"/>
              </a:highlight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sz="2200" b="1">
                <a:solidFill>
                  <a:srgbClr val="FFFF00"/>
                </a:solidFill>
                <a:highlight>
                  <a:srgbClr val="000000"/>
                </a:highlight>
                <a:latin typeface="Century Gothic" panose="020B0502020202020204" charset="0"/>
                <a:cs typeface="Century Gothic" panose="020B0502020202020204" charset="0"/>
                <a:sym typeface="+mn-ea"/>
              </a:rPr>
              <a:t>Majority of people preferred CHATGPT over DEEPSEEK for Professional purposes</a:t>
            </a:r>
            <a:endParaRPr lang="en-US" sz="2200" b="1">
              <a:solidFill>
                <a:srgbClr val="FFFF00"/>
              </a:solidFill>
              <a:highlight>
                <a:srgbClr val="000000"/>
              </a:highlight>
              <a:latin typeface="Century Gothic" panose="020B0502020202020204" charset="0"/>
              <a:cs typeface="Century Gothic" panose="020B050202020202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500" y="62865"/>
            <a:ext cx="12128500" cy="1012825"/>
          </a:xfrm>
        </p:spPr>
        <p:txBody>
          <a:bodyPr>
            <a:normAutofit fontScale="90000"/>
          </a:bodyPr>
          <a:p>
            <a:r>
              <a:rPr lang="en-US" altLang="en-US" sz="311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8.  If you had to choose one tool </a:t>
            </a:r>
            <a:r>
              <a:rPr lang="en-US" altLang="en-US" sz="3110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Overall</a:t>
            </a:r>
            <a:r>
              <a:rPr lang="en-US" altLang="en-US" sz="311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, irrespective of professional or non professional</a:t>
            </a:r>
            <a:r>
              <a:rPr lang="en-US" altLang="en-US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 </a:t>
            </a:r>
            <a:r>
              <a:rPr lang="en-US" altLang="en-US" sz="3110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use which would it be</a:t>
            </a:r>
            <a:r>
              <a:rPr lang="en-US" altLang="en-US">
                <a:latin typeface="Century Gothic" panose="020B0502020202020204" charset="0"/>
                <a:cs typeface="Century Gothic" panose="020B0502020202020204" charset="0"/>
              </a:rPr>
              <a:t> ?</a:t>
            </a:r>
            <a:endParaRPr lang="en-US" altLang="en-US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5" name="Picture 4" descr="xyz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5690"/>
            <a:ext cx="12192000" cy="58204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35" y="909955"/>
            <a:ext cx="11639550" cy="5706745"/>
          </a:xfrm>
        </p:spPr>
        <p:txBody>
          <a:bodyPr>
            <a:normAutofit fontScale="90000"/>
          </a:bodyPr>
          <a:p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Null Hypothesis (H0):p=0.5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Alternative Hypothesis (H1):p=0.5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Total responses (n): 156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ChatGPT responses (x): 103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Proportion in favor of ChatGPT (p): 0.660 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Confidence Level: 95%   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Significance Level (α): 0.05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Calculated Z-statistic (Zcal): 5.02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Tabulated Z-statistic (Ztab):1.96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Conclusion</a:t>
            </a:r>
            <a: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  <a:t>:</a:t>
            </a:r>
            <a:br>
              <a:rPr lang="en-US" altLang="en-US" sz="2665" b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  <a:t>Since Zcal(5.02)&gt;Ztab(1.96), we reject the Null Hypothesis (H0).</a:t>
            </a:r>
            <a:b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US" sz="2665">
                <a:latin typeface="Century Gothic" panose="020B0502020202020204" charset="0"/>
                <a:cs typeface="Century Gothic" panose="020B0502020202020204" charset="0"/>
              </a:rPr>
              <a:t>At a 95% confidence level and 5% significance, there is a statistically significant preference for ChatGPT over DeepSeek for overall use.</a:t>
            </a:r>
            <a:endParaRPr lang="en-US" altLang="en-US" sz="2665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13360" y="182880"/>
            <a:ext cx="11702415" cy="81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VI. </a:t>
            </a:r>
            <a:r>
              <a:rPr lang="en-US" altLang="en-US" sz="3200" b="1">
                <a:solidFill>
                  <a:srgbClr val="FF0000"/>
                </a:solidFill>
                <a:latin typeface="Century Gothic" panose="020B0502020202020204" charset="0"/>
                <a:cs typeface="Century Gothic" panose="020B0502020202020204" charset="0"/>
              </a:rPr>
              <a:t>Hypothesis Testing:</a:t>
            </a:r>
            <a:r>
              <a:rPr lang="en-US" altLang="en-US" sz="32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 Preference for AI Tool in </a:t>
            </a:r>
            <a:r>
              <a:rPr lang="en-US" altLang="en-US" sz="3200" b="1">
                <a:solidFill>
                  <a:srgbClr val="FFFF00"/>
                </a:solidFill>
                <a:latin typeface="Century Gothic" panose="020B0502020202020204" charset="0"/>
                <a:cs typeface="Century Gothic" panose="020B0502020202020204" charset="0"/>
              </a:rPr>
              <a:t>overall </a:t>
            </a:r>
            <a:r>
              <a:rPr lang="en-US" altLang="en-US" sz="32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</a:rPr>
              <a:t>use</a:t>
            </a:r>
            <a:endParaRPr lang="en-US" altLang="en-US" sz="3200" b="1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altLang="en-US" sz="3200" b="1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5882640" y="909955"/>
          <a:ext cx="6219825" cy="3644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7510" y="361315"/>
            <a:ext cx="4803775" cy="913130"/>
          </a:xfrm>
        </p:spPr>
        <p:txBody>
          <a:bodyPr>
            <a:normAutofit/>
          </a:bodyPr>
          <a:p>
            <a:r>
              <a:rPr lang="zh-CN" altLang="en-US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🧭</a:t>
            </a:r>
            <a:r>
              <a:rPr lang="en-US" altLang="en-US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 Conclusion:</a:t>
            </a:r>
            <a:endParaRPr lang="en-US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1330" y="1381760"/>
            <a:ext cx="10839450" cy="5034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 sz="2400" b="1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  <a:sym typeface="+mn-ea"/>
            </a:endParaRPr>
          </a:p>
          <a:p>
            <a:endParaRPr lang="en-US" altLang="en-US" sz="2400" b="1">
              <a:solidFill>
                <a:schemeClr val="accent3"/>
              </a:solidFill>
              <a:latin typeface="Century Gothic" panose="020B0502020202020204" charset="0"/>
              <a:cs typeface="Century Gothic" panose="020B0502020202020204" charset="0"/>
              <a:sym typeface="+mn-ea"/>
            </a:endParaRPr>
          </a:p>
          <a:p>
            <a:r>
              <a:rPr lang="en-US" altLang="en-US" sz="24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1.</a:t>
            </a:r>
            <a: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  <a:t>ChatGPT is the more popular, user-friendly, and versatile tool</a:t>
            </a:r>
            <a:b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b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r>
              <a:rPr lang="en-US" altLang="en-US" sz="24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2.</a:t>
            </a:r>
            <a: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  <a:t>DeepSeek earns praise in technical reliability</a:t>
            </a:r>
            <a:b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b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r>
              <a:rPr lang="en-US" altLang="en-US" sz="24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3.</a:t>
            </a:r>
            <a: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  <a:t>Use-case matters: Casual = ChatGPT, Technical = DeepSeek</a:t>
            </a:r>
            <a:b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b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</a:br>
            <a:r>
              <a:rPr lang="en-US" altLang="en-US" sz="2400" b="1">
                <a:solidFill>
                  <a:schemeClr val="accent3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4.</a:t>
            </a:r>
            <a:r>
              <a:rPr lang="en-US" altLang="en-US" sz="2400" b="1">
                <a:latin typeface="Century Gothic" panose="020B0502020202020204" charset="0"/>
                <a:cs typeface="Century Gothic" panose="020B0502020202020204" charset="0"/>
                <a:sym typeface="+mn-ea"/>
              </a:rPr>
              <a:t>AI tools are now essential aids in both academic and professional life</a:t>
            </a:r>
            <a:endParaRPr lang="en-US" sz="2400" b="1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37565" y="1370121"/>
            <a:ext cx="10515000" cy="1800000"/>
          </a:xfrm>
        </p:spPr>
        <p:txBody>
          <a:bodyPr/>
          <a:p>
            <a:pPr algn="l"/>
            <a:r>
              <a:rPr lang="en-US" altLang="en-US"/>
              <a:t>     </a:t>
            </a:r>
            <a:r>
              <a:rPr lang="en-US" altLang="en-US" sz="800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Thank you!</a:t>
            </a:r>
            <a:endParaRPr lang="en-US" altLang="en-US" sz="800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p>
            <a:pPr algn="l"/>
            <a:r>
              <a:rPr lang="en-US" altLang="en-US"/>
              <a:t>               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We hope this gave clear insights into how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AI tools are shaping modern work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learning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476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8007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8007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7"/>
  <p:tag name="KSO_WM_TEMPLATE_THUMBS_INDEX" val="1、9"/>
  <p:tag name="KSO_WM_SPECIAL_SOURCE" val="bdnull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07_1*a*1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Your title here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07_1*b*1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Add description"/>
</p:tagLst>
</file>

<file path=ppt/tags/tag6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07_1*f*4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Name"/>
</p:tagLst>
</file>

<file path=ppt/tags/tag61.xml><?xml version="1.0" encoding="utf-8"?>
<p:tagLst xmlns:p="http://schemas.openxmlformats.org/presentationml/2006/main">
  <p:tag name="KSO_WM_SLIDE_ID" val="custom2023800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7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PECIAL_SOURCE" val="bdnull"/>
  <p:tag name="KSO_WM_SLIDE_THEME_ID" val="3323825"/>
  <p:tag name="KSO_WM_SLIDE_THEME_NAME" val="Z_20238007_Black Tech"/>
</p:tagLst>
</file>

<file path=ppt/tags/tag62.xml><?xml version="1.0" encoding="utf-8"?>
<p:tagLst xmlns:p="http://schemas.openxmlformats.org/presentationml/2006/main">
  <p:tag name="KSO_WM_UNIT_VALUE" val="1904*199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61_1*d*1"/>
  <p:tag name="KSO_WM_TEMPLATE_CATEGORY" val="custom"/>
  <p:tag name="KSO_WM_TEMPLATE_INDEX" val="20238261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USESOURCEFORMAT_APPLY" val="1"/>
</p:tagLst>
</file>

<file path=ppt/tags/tag63.xml><?xml version="1.0" encoding="utf-8"?>
<p:tagLst xmlns:p="http://schemas.openxmlformats.org/presentationml/2006/main">
  <p:tag name="KSO_WM_UNIT_TEXT_FILL_FORE_SCHEMECOLOR_INDEX_BRIGHTNESS" val="0.15"/>
  <p:tag name="KSO_WM_DIAGRAM_MAX_ITEMCNT" val="3"/>
  <p:tag name="KSO_WM_DIAGRAM_MIN_ITEMCNT" val="1"/>
  <p:tag name="KSO_WM_DIAGRAM_VIRTUALLY_FRAME" val="{&quot;height&quot;:319.6499938964844,&quot;left&quot;:638.9749606299213,&quot;top&quot;:125.50256210687594,&quot;width&quot;:267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2_2*l_h_f*1_1_1"/>
  <p:tag name="KSO_WM_TEMPLATE_CATEGORY" val="diagram"/>
  <p:tag name="KSO_WM_TEMPLATE_INDEX" val="20237942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UNIT_TEXT_FILL_FORE_SCHEMECOLOR_INDEX_BRIGHTNESS" val="0.15"/>
  <p:tag name="KSO_WM_DIAGRAM_MAX_ITEMCNT" val="3"/>
  <p:tag name="KSO_WM_DIAGRAM_MIN_ITEMCNT" val="1"/>
  <p:tag name="KSO_WM_DIAGRAM_VIRTUALLY_FRAME" val="{&quot;height&quot;:319.6499938964844,&quot;left&quot;:638.9749606299213,&quot;top&quot;:125.50256210687594,&quot;width&quot;:267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2_2*l_h_f*1_2_1"/>
  <p:tag name="KSO_WM_TEMPLATE_CATEGORY" val="diagram"/>
  <p:tag name="KSO_WM_TEMPLATE_INDEX" val="20237942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8"/>
  <p:tag name="KSO_WM_TEMPLATE_INDEX" val="20238261"/>
  <p:tag name="KSO_WM_UNIT_ID" val="custom20238261_1*a*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267.15*319.65"/>
  <p:tag name="KSO_WM_SLIDE_POSITION" val="639*125.478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61"/>
  <p:tag name="KSO_WM_TEMPLATE_SUBCATEGORY" val="0"/>
  <p:tag name="KSO_WM_SLIDE_INDEX" val="1"/>
  <p:tag name="KSO_WM_TAG_VERSION" val="3.0"/>
  <p:tag name="KSO_WM_SLIDE_ID" val="custom20238261_1"/>
  <p:tag name="KSO_WM_SLIDE_ITEM_CNT" val="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7"/>
</p:tagLst>
</file>

<file path=ppt/theme/theme1.xml><?xml version="1.0" encoding="utf-8"?>
<a:theme xmlns:a="http://schemas.openxmlformats.org/drawingml/2006/main" name="2_Office Theme">
  <a:themeElements>
    <a:clrScheme name="自定义 16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00A7FF"/>
      </a:accent1>
      <a:accent2>
        <a:srgbClr val="3386ED"/>
      </a:accent2>
      <a:accent3>
        <a:srgbClr val="33F0FF"/>
      </a:accent3>
      <a:accent4>
        <a:srgbClr val="FA406C"/>
      </a:accent4>
      <a:accent5>
        <a:srgbClr val="C933FE"/>
      </a:accent5>
      <a:accent6>
        <a:srgbClr val="FF00A7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chemeClr val="tx1">
              <a:alpha val="70000"/>
            </a:schemeClr>
          </a:solidFill>
          <a:prstDash val="soli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6658</Words>
  <Application>WPS Presentation</Application>
  <PresentationFormat>Widescreen</PresentationFormat>
  <Paragraphs>136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Century Gothic</vt:lpstr>
      <vt:lpstr>Arial Black</vt:lpstr>
      <vt:lpstr>Times New Roman</vt:lpstr>
      <vt:lpstr>Inter Bold</vt:lpstr>
      <vt:lpstr>Segoe Print</vt:lpstr>
      <vt:lpstr>Microsoft YaHei</vt:lpstr>
      <vt:lpstr>Arial Unicode MS</vt:lpstr>
      <vt:lpstr>Inter</vt:lpstr>
      <vt:lpstr>Calibri</vt:lpstr>
      <vt:lpstr>2_Office Theme</vt:lpstr>
      <vt:lpstr>ChatGPT vs DeepSeek: A Comparative Study in Professional and Non-Professional Use</vt:lpstr>
      <vt:lpstr>PowerPoint 演示文稿</vt:lpstr>
      <vt:lpstr>👥  Overview :  This research investigates user preferences between ChatGPT and DeepSeek across professional and non-professional contexts.  It highlights:  Usability differences  Perceived accuracy and speed  Use-cases in education and work  Trust in information and reliability</vt:lpstr>
      <vt:lpstr>📝 Survey Details :  Total Respondents: 160+  Method: Google Forms  Target Group: Students and working professionals  Focus: Tool comparison in terms of functionality, reliability, and use-context</vt:lpstr>
      <vt:lpstr>SURVEY STATS </vt:lpstr>
      <vt:lpstr>2.  Which AI tool do you use more frequently?</vt:lpstr>
      <vt:lpstr>3.  Purpose of use and Friendliness (perceived)</vt:lpstr>
      <vt:lpstr>I.  Hypothesis Testing: AI Tools Rated "Very High" in Educational Significance </vt:lpstr>
      <vt:lpstr>II.  Hypothesis Testing: ChatGPT Responds Faster than DeepSeek</vt:lpstr>
      <vt:lpstr>Claim: DeepSeek is rated more accurate than ChatGPT.  H0: p=0.5 (Equal accuracy ratings for DeepSeek and ChatGPT) H1: p&gt;0.5 (DeepSeek rated more accurate than ChatGPT)  Confidence Level: 95%   Significance Level (α): 0.05 Number of users who rated DeepSeek more accurate: 55 Total sample size (n): 152 Sample Proportion (p): 152/55≈0.362  Calculated Z-statistic (Zcal):≈-2.79  Tabulated Z-statistic (Ztab): 1.645 (for a one-tailed test at α=0.05)  Conclusion: Since Zcal(-2.79) &lt; Ztab(1.645), we fail to reject the null hypothesis (H0). There is no significant statistical evidence at the 95% confidence level to claim that DeepSeek is rated more accurate than ChatGPT. In fact, based on the sample proportion, ChatGPT appears to be rated more accurate</vt:lpstr>
      <vt:lpstr>PowerPoint 演示文稿</vt:lpstr>
      <vt:lpstr>This hypothesis examines whether the proportion of users who received incorrect/misleading information from AI tools is greater than 50%. CLAIM: Null Hypothesis (H0):p=0.5 Alternative Hypothesis (H1):p&gt;0.5 Total responses (n): 159 Number who reported incorrect/misleading information (x): 121 Sample Proportion (p): 0.761 Hypothesized population proportion under null hypothesis (p0): 0.5 Calculated Z-statistic (Zcal): 6.58 Tabulated Z-statistic (Ztab): 1.645 (for a one-tailed test at α=0.05) Conclusion: Since Zcal(6.58)&gt;Ztab(1.645), we reject the null hypothesis (H0). At a 5% level of significance, there is strong statistical evidence to conclude that the proportion of users who received incorrect or misleading information from ChatGPT or DeepSeek is significantly greater than 50%</vt:lpstr>
      <vt:lpstr> 6.  If you had to choose one tool for professional use, which would it be ?</vt:lpstr>
      <vt:lpstr>V.  Hypothesis Testing: Preference for ChatGPT for Professional Use</vt:lpstr>
      <vt:lpstr>7.  If you had to choose one tool for non-professional use, which would it be?</vt:lpstr>
      <vt:lpstr>8.  If you had to choose one tool Overall, irrespective of professional or non professional use which would it be ?</vt:lpstr>
      <vt:lpstr>Null Hypothesis (H0):p=0.5 Alternative Hypothesis (H1):p=0.5 Total responses (n): 156 ChatGPT responses (x): 103 Proportion in favor of ChatGPT (p): 0.660  Confidence Level: 95%    Significance Level (α): 0.05  Calculated Z-statistic (Zcal): 5.02 Tabulated Z-statistic (Ztab):1.96  Conclusion: Since Zcal(5.02)&gt;Ztab(1.96), we reject the Null Hypothesis (H0). At a 95% confidence level and 5% significance, there is a statistically significant preference for ChatGPT over DeepSeek for overall use.</vt:lpstr>
      <vt:lpstr>🧭 Conclusion:</vt:lpstr>
      <vt:lpstr>     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vs DeepSeek: A Comparative Study in Professional and Non-Professional Use</dc:title>
  <dc:creator/>
  <cp:lastModifiedBy>Mian Abdullah</cp:lastModifiedBy>
  <cp:revision>9</cp:revision>
  <dcterms:created xsi:type="dcterms:W3CDTF">2025-06-11T16:55:00Z</dcterms:created>
  <dcterms:modified xsi:type="dcterms:W3CDTF">2025-06-12T05:47:02Z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A232376E9FEF4B6E8156E14A835FF26A_12</vt:lpwstr>
  </property>
  <property fmtid="{D5CDD505-2E9C-101B-9397-08002B2CF9AE}" pid="3" name="KSOProductBuildVer">
    <vt:lpwstr>1033-12.2.0.21179</vt:lpwstr>
  </property>
</Properties>
</file>